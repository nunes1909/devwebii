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524" r:id="rId3"/>
    <p:sldId id="553" r:id="rId4"/>
    <p:sldId id="581" r:id="rId5"/>
    <p:sldId id="582" r:id="rId6"/>
    <p:sldId id="583" r:id="rId7"/>
    <p:sldId id="577" r:id="rId8"/>
    <p:sldId id="578" r:id="rId9"/>
    <p:sldId id="579" r:id="rId10"/>
    <p:sldId id="580" r:id="rId11"/>
    <p:sldId id="558" r:id="rId12"/>
    <p:sldId id="572" r:id="rId13"/>
    <p:sldId id="573" r:id="rId14"/>
    <p:sldId id="574" r:id="rId15"/>
    <p:sldId id="559" r:id="rId16"/>
    <p:sldId id="554" r:id="rId17"/>
    <p:sldId id="555" r:id="rId18"/>
    <p:sldId id="556" r:id="rId19"/>
    <p:sldId id="575" r:id="rId20"/>
    <p:sldId id="576" r:id="rId21"/>
    <p:sldId id="557" r:id="rId22"/>
    <p:sldId id="560" r:id="rId23"/>
    <p:sldId id="561" r:id="rId24"/>
    <p:sldId id="562" r:id="rId25"/>
    <p:sldId id="563" r:id="rId26"/>
    <p:sldId id="564" r:id="rId27"/>
    <p:sldId id="565" r:id="rId28"/>
    <p:sldId id="568" r:id="rId29"/>
    <p:sldId id="569" r:id="rId30"/>
    <p:sldId id="570" r:id="rId31"/>
    <p:sldId id="567" r:id="rId32"/>
    <p:sldId id="508" r:id="rId33"/>
    <p:sldId id="552" r:id="rId34"/>
  </p:sldIdLst>
  <p:sldSz cx="9144000" cy="6858000" type="screen4x3"/>
  <p:notesSz cx="6865938" cy="999807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1pPr>
    <a:lvl2pPr marL="4572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2pPr>
    <a:lvl3pPr marL="9144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3pPr>
    <a:lvl4pPr marL="1371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4pPr>
    <a:lvl5pPr marL="18288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Arial Unicode MS" panose="020B0604020202020204" pitchFamily="34" charset="-128"/>
        <a:cs typeface="Arial Unicode MS" panose="020B0604020202020204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3">
          <p15:clr>
            <a:srgbClr val="A4A3A4"/>
          </p15:clr>
        </p15:guide>
        <p15:guide id="2" pos="216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2211E"/>
    <a:srgbClr val="F62AF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A107856-5554-42FB-B03E-39F5DBC370BA}" styleName="Estilo Médio 4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Estilo Médio 4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800" autoAdjust="0"/>
    <p:restoredTop sz="92031" autoAdjust="0"/>
  </p:normalViewPr>
  <p:slideViewPr>
    <p:cSldViewPr>
      <p:cViewPr varScale="1">
        <p:scale>
          <a:sx n="65" d="100"/>
          <a:sy n="65" d="100"/>
        </p:scale>
        <p:origin x="954" y="78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04" y="-90"/>
      </p:cViewPr>
      <p:guideLst>
        <p:guide orient="horz" pos="2953"/>
        <p:guide pos="216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4975" cy="500063"/>
          </a:xfrm>
          <a:prstGeom prst="rect">
            <a:avLst/>
          </a:prstGeom>
        </p:spPr>
        <p:txBody>
          <a:bodyPr vert="horz" lIns="92848" tIns="46424" rIns="92848" bIns="46424" rtlCol="0"/>
          <a:lstStyle>
            <a:lvl1pPr algn="l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9375" y="0"/>
            <a:ext cx="2974975" cy="500063"/>
          </a:xfrm>
          <a:prstGeom prst="rect">
            <a:avLst/>
          </a:prstGeom>
        </p:spPr>
        <p:txBody>
          <a:bodyPr vert="horz" lIns="92848" tIns="46424" rIns="92848" bIns="46424" rtlCol="0"/>
          <a:lstStyle>
            <a:lvl1pPr algn="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fld id="{A1104C5F-3F99-4024-9F0F-8D82C767FD98}" type="datetimeFigureOut">
              <a:rPr lang="pt-BR"/>
              <a:pPr>
                <a:defRPr/>
              </a:pPr>
              <a:t>25/08/2020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96425"/>
            <a:ext cx="2974975" cy="500063"/>
          </a:xfrm>
          <a:prstGeom prst="rect">
            <a:avLst/>
          </a:prstGeom>
        </p:spPr>
        <p:txBody>
          <a:bodyPr vert="horz" lIns="92848" tIns="46424" rIns="92848" bIns="46424" rtlCol="0" anchor="b"/>
          <a:lstStyle>
            <a:lvl1pPr algn="l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 sz="1200">
                <a:latin typeface="Arial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9375" y="9496425"/>
            <a:ext cx="2974975" cy="500063"/>
          </a:xfrm>
          <a:prstGeom prst="rect">
            <a:avLst/>
          </a:prstGeom>
        </p:spPr>
        <p:txBody>
          <a:bodyPr vert="horz" wrap="square" lIns="92848" tIns="46424" rIns="92848" bIns="464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fld id="{05E9C708-9440-4351-8DE6-46BEC5419669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831316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1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3" name="AutoShape 2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4" name="AutoShape 3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5" name="AutoShape 4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15366" name="AutoShape 5"/>
          <p:cNvSpPr>
            <a:spLocks noChangeArrowheads="1"/>
          </p:cNvSpPr>
          <p:nvPr/>
        </p:nvSpPr>
        <p:spPr bwMode="auto">
          <a:xfrm>
            <a:off x="0" y="0"/>
            <a:ext cx="6865938" cy="999807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/>
        </p:spPr>
        <p:txBody>
          <a:bodyPr wrap="none" lIns="92848" tIns="46424" rIns="92848" bIns="46424" anchor="ctr"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pt-BR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2967038" cy="500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dt"/>
          </p:nvPr>
        </p:nvSpPr>
        <p:spPr bwMode="auto">
          <a:xfrm>
            <a:off x="3889375" y="0"/>
            <a:ext cx="2967038" cy="5000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5369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33450" y="750888"/>
            <a:ext cx="4992688" cy="3744912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81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687388" y="4749800"/>
            <a:ext cx="5483225" cy="4487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t" anchorCtr="0" compatLnSpc="1">
            <a:prstTxWarp prst="textNoShape">
              <a:avLst/>
            </a:prstTxWarp>
          </a:bodyPr>
          <a:lstStyle/>
          <a:p>
            <a:pPr lvl="0"/>
            <a:endParaRPr lang="pt-BR" noProof="0" smtClean="0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ftr"/>
          </p:nvPr>
        </p:nvSpPr>
        <p:spPr bwMode="auto">
          <a:xfrm>
            <a:off x="0" y="9494838"/>
            <a:ext cx="2967038" cy="500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buClr>
                <a:srgbClr val="000000"/>
              </a:buClr>
              <a:buSzPct val="45000"/>
              <a:buFont typeface="Wingdings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itchFamily="18" charset="0"/>
                <a:cs typeface="Arial Unicode MS" pitchFamily="34" charset="-128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3889375" y="9494838"/>
            <a:ext cx="2967038" cy="50006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1386" tIns="47521" rIns="91386" bIns="47521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35048" algn="l"/>
                <a:tab pos="1470096" algn="l"/>
                <a:tab pos="2205144" algn="l"/>
                <a:tab pos="2940192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7A38D9E9-6444-43F8-8666-F94737221AB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68971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2401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875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447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0019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591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9163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B51353EA-15F2-4A30-B044-369B7ADC2CF3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1</a:t>
            </a:fld>
            <a:endParaRPr lang="en-GB" altLang="pt-BR" smtClean="0"/>
          </a:p>
        </p:txBody>
      </p:sp>
      <p:sp>
        <p:nvSpPr>
          <p:cNvPr id="18435" name="Text Box 1"/>
          <p:cNvSpPr txBox="1">
            <a:spLocks noChangeArrowheads="1"/>
          </p:cNvSpPr>
          <p:nvPr/>
        </p:nvSpPr>
        <p:spPr bwMode="auto">
          <a:xfrm>
            <a:off x="992188" y="750888"/>
            <a:ext cx="4883150" cy="3748087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2848" tIns="46424" rIns="92848" bIns="46424" anchor="ctr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71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pt-BR" altLang="pt-BR" sz="180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body"/>
          </p:nvPr>
        </p:nvSpPr>
        <p:spPr>
          <a:xfrm>
            <a:off x="687388" y="4749800"/>
            <a:ext cx="5484812" cy="449103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pt-BR" altLang="pt-BR" smtClean="0"/>
          </a:p>
        </p:txBody>
      </p:sp>
    </p:spTree>
    <p:extLst>
      <p:ext uri="{BB962C8B-B14F-4D97-AF65-F5344CB8AC3E}">
        <p14:creationId xmlns:p14="http://schemas.microsoft.com/office/powerpoint/2010/main" val="2881593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smtClean="0"/>
          </a:p>
        </p:txBody>
      </p:sp>
      <p:sp>
        <p:nvSpPr>
          <p:cNvPr id="37892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2401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875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447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0019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591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9163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D38BDB95-AAE5-4CF6-BD18-100A1918BA3B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28</a:t>
            </a:fld>
            <a:endParaRPr lang="en-GB" altLang="pt-BR" smtClean="0"/>
          </a:p>
        </p:txBody>
      </p:sp>
    </p:spTree>
    <p:extLst>
      <p:ext uri="{BB962C8B-B14F-4D97-AF65-F5344CB8AC3E}">
        <p14:creationId xmlns:p14="http://schemas.microsoft.com/office/powerpoint/2010/main" val="62870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ço Reservado para Imagem de Slide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Espaço Reservado para Anotações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 smtClean="0"/>
          </a:p>
        </p:txBody>
      </p:sp>
      <p:sp>
        <p:nvSpPr>
          <p:cNvPr id="43012" name="Espaço Reservado para Número de Slide 3"/>
          <p:cNvSpPr>
            <a:spLocks noGrp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54063" indent="-28892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604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2401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87563" indent="-231775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447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30019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591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916363" indent="-231775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35013" algn="l"/>
                <a:tab pos="1470025" algn="l"/>
                <a:tab pos="2205038" algn="l"/>
                <a:tab pos="294005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SzPct val="45000"/>
              <a:buFont typeface="Wingdings" panose="05000000000000000000" pitchFamily="2" charset="2"/>
              <a:buNone/>
            </a:pPr>
            <a:fld id="{A1D33F34-1D47-46BB-938A-1A5126A27F13}" type="slidenum">
              <a:rPr lang="en-GB" altLang="pt-BR" smtClean="0"/>
              <a:pPr>
                <a:spcBef>
                  <a:spcPct val="0"/>
                </a:spcBef>
                <a:buSzPct val="45000"/>
                <a:buFont typeface="Wingdings" panose="05000000000000000000" pitchFamily="2" charset="2"/>
                <a:buNone/>
              </a:pPr>
              <a:t>32</a:t>
            </a:fld>
            <a:endParaRPr lang="en-GB" altLang="pt-BR" smtClean="0"/>
          </a:p>
        </p:txBody>
      </p:sp>
    </p:spTree>
    <p:extLst>
      <p:ext uri="{BB962C8B-B14F-4D97-AF65-F5344CB8AC3E}">
        <p14:creationId xmlns:p14="http://schemas.microsoft.com/office/powerpoint/2010/main" val="8131185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AD99D7-9821-4FE7-BAB4-1DA3149B1C3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80302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4F0E1-D621-4B98-8543-2AD78AA59B56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036178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B76508-8F03-433D-B275-FF4D041A13C6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6628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F56608-3F5C-4FB1-8DB9-BD0668619B9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36108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DFE3EA-32BF-44E9-9852-5AA6A140CCBB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55601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7A0B19-3441-4B6A-B514-FDE11753EDD1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107674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0153E-43D5-47A1-B7F2-C60138D99804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01254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6C383-630A-4DC7-9D13-78EF7EBB076A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90431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29D7E0-5E89-4FA8-AC66-A7EB56221219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79921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585837-FC30-4E3B-9029-50741DF63F0C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749964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0063" y="293688"/>
            <a:ext cx="1825625" cy="5884862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370013" y="293688"/>
            <a:ext cx="5327650" cy="5884862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0C2DFD-AF74-496C-A6F8-90B9318A13D9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6790209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ítulo, clip-art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Espaço Reservado para Clip-art 2"/>
          <p:cNvSpPr>
            <a:spLocks noGrp="1"/>
          </p:cNvSpPr>
          <p:nvPr>
            <p:ph type="clipArt" sz="half" idx="1"/>
          </p:nvPr>
        </p:nvSpPr>
        <p:spPr>
          <a:xfrm>
            <a:off x="1370013" y="1827213"/>
            <a:ext cx="3576637" cy="4351337"/>
          </a:xfrm>
        </p:spPr>
        <p:txBody>
          <a:bodyPr/>
          <a:lstStyle/>
          <a:p>
            <a:pPr lvl="0"/>
            <a:endParaRPr lang="pt-BR" noProof="0" smtClean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5099050" y="1827213"/>
            <a:ext cx="3576638" cy="4351337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FF7E3-4245-40A9-B612-AC76F5106C96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4094891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0013" y="293688"/>
            <a:ext cx="7305675" cy="1144587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pt-B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4B2B5-9C8A-40AA-A236-4025E1673073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781674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293688"/>
            <a:ext cx="7305675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título de texto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0013" y="1827213"/>
            <a:ext cx="7305675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 smtClean="0"/>
              <a:t>Clique para editar o formato do texto em estrutura de tópicos</a:t>
            </a:r>
          </a:p>
          <a:p>
            <a:pPr lvl="1"/>
            <a:r>
              <a:rPr lang="en-GB" altLang="pt-BR" smtClean="0"/>
              <a:t>Segundo Nível da Estrutura de Tópicos</a:t>
            </a:r>
          </a:p>
          <a:p>
            <a:pPr lvl="2"/>
            <a:r>
              <a:rPr lang="en-GB" altLang="pt-BR" smtClean="0"/>
              <a:t>Terceiro Nível da Estrutura de Tópicos</a:t>
            </a:r>
          </a:p>
          <a:p>
            <a:pPr lvl="3"/>
            <a:r>
              <a:rPr lang="en-GB" altLang="pt-BR" smtClean="0"/>
              <a:t>Quarto Nível da Estrutura de Tópicos</a:t>
            </a:r>
          </a:p>
          <a:p>
            <a:pPr lvl="4"/>
            <a:r>
              <a:rPr lang="en-GB" altLang="pt-BR" smtClean="0"/>
              <a:t>Quinto Nível da Estrutura de Tópicos</a:t>
            </a:r>
          </a:p>
          <a:p>
            <a:pPr lvl="4"/>
            <a:r>
              <a:rPr lang="en-GB" altLang="pt-BR" smtClean="0"/>
              <a:t>Sexto Nível da Estrutura de Tópicos</a:t>
            </a:r>
          </a:p>
          <a:p>
            <a:pPr lvl="4"/>
            <a:r>
              <a:rPr lang="en-GB" altLang="pt-BR" smtClean="0"/>
              <a:t>Sétimo Nível da Estrutura de Tópicos</a:t>
            </a:r>
          </a:p>
          <a:p>
            <a:pPr lvl="4"/>
            <a:r>
              <a:rPr lang="en-GB" altLang="pt-BR" smtClean="0"/>
              <a:t>Oitavo Nível da Estrutura de Tópicos</a:t>
            </a:r>
          </a:p>
          <a:p>
            <a:pPr lvl="4"/>
            <a:r>
              <a:rPr lang="en-GB" altLang="pt-BR" smtClean="0"/>
              <a:t>Nono Nível da Estrutura de Tópicos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sldNum"/>
          </p:nvPr>
        </p:nvSpPr>
        <p:spPr bwMode="auto">
          <a:xfrm>
            <a:off x="6553200" y="6284913"/>
            <a:ext cx="2125663" cy="45561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Clr>
                <a:srgbClr val="000000"/>
              </a:buClr>
              <a:buSzPct val="100000"/>
              <a:buFont typeface="Verdana" panose="020B0604030504040204" pitchFamily="34" charset="0"/>
              <a:buNone/>
              <a:defRPr sz="1200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pPr>
              <a:defRPr/>
            </a:pPr>
            <a:fld id="{8260C48F-2505-474B-9363-4C056E1DAF8E}" type="slidenum">
              <a:rPr lang="en-GB" altLang="pt-BR"/>
              <a:pPr>
                <a:defRPr/>
              </a:pPr>
              <a:t>‹nº›</a:t>
            </a:fld>
            <a:endParaRPr lang="en-GB" altLang="pt-BR"/>
          </a:p>
        </p:txBody>
      </p:sp>
      <p:sp>
        <p:nvSpPr>
          <p:cNvPr id="1029" name="Line 4"/>
          <p:cNvSpPr>
            <a:spLocks noChangeShapeType="1"/>
          </p:cNvSpPr>
          <p:nvPr/>
        </p:nvSpPr>
        <p:spPr bwMode="auto">
          <a:xfrm>
            <a:off x="1403350" y="1557338"/>
            <a:ext cx="7272338" cy="1587"/>
          </a:xfrm>
          <a:prstGeom prst="line">
            <a:avLst/>
          </a:prstGeom>
          <a:noFill/>
          <a:ln w="2556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pic>
        <p:nvPicPr>
          <p:cNvPr id="1030" name="Picture 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443" r:id="rId1"/>
    <p:sldLayoutId id="2147485444" r:id="rId2"/>
    <p:sldLayoutId id="2147485445" r:id="rId3"/>
    <p:sldLayoutId id="2147485446" r:id="rId4"/>
    <p:sldLayoutId id="2147485447" r:id="rId5"/>
    <p:sldLayoutId id="2147485448" r:id="rId6"/>
    <p:sldLayoutId id="2147485449" r:id="rId7"/>
    <p:sldLayoutId id="2147485450" r:id="rId8"/>
    <p:sldLayoutId id="2147485451" r:id="rId9"/>
    <p:sldLayoutId id="2147485452" r:id="rId10"/>
    <p:sldLayoutId id="2147485453" r:id="rId11"/>
    <p:sldLayoutId id="2147485454" r:id="rId12"/>
    <p:sldLayoutId id="2147485455" r:id="rId13"/>
  </p:sldLayoutIdLst>
  <p:hf hdr="0" ftr="0" dt="0"/>
  <p:txStyles>
    <p:titleStyle>
      <a:lvl1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+mj-lt"/>
          <a:ea typeface="+mj-ea"/>
          <a:cs typeface="+mj-cs"/>
        </a:defRPr>
      </a:lvl1pPr>
      <a:lvl2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2pPr>
      <a:lvl3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3pPr>
      <a:lvl4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4pPr>
      <a:lvl5pPr algn="r" defTabSz="449263" rtl="0" eaLnBrk="0" fontAlgn="base" hangingPunct="0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5pPr>
      <a:lvl6pPr marL="4572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6pPr>
      <a:lvl7pPr marL="9144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7pPr>
      <a:lvl8pPr marL="13716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8pPr>
      <a:lvl9pPr marL="1828800" algn="r" defTabSz="449263" rtl="0" fontAlgn="base">
        <a:lnSpc>
          <a:spcPct val="110000"/>
        </a:lnSpc>
        <a:spcBef>
          <a:spcPct val="0"/>
        </a:spcBef>
        <a:spcAft>
          <a:spcPct val="0"/>
        </a:spcAft>
        <a:buClr>
          <a:srgbClr val="000099"/>
        </a:buClr>
        <a:buSzPct val="100000"/>
        <a:buFont typeface="Verdana" pitchFamily="34" charset="0"/>
        <a:defRPr sz="3200" b="1">
          <a:solidFill>
            <a:srgbClr val="000099"/>
          </a:solidFill>
          <a:latin typeface="Verdana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34963" indent="-33496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1pPr>
      <a:lvl2pPr marL="735013" indent="-277813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"/>
        <a:defRPr sz="24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>
        <a:lnSpc>
          <a:spcPct val="71000"/>
        </a:lnSpc>
        <a:spcBef>
          <a:spcPts val="600"/>
        </a:spcBef>
        <a:spcAft>
          <a:spcPct val="0"/>
        </a:spcAft>
        <a:buClr>
          <a:srgbClr val="000099"/>
        </a:buClr>
        <a:buSzPct val="80000"/>
        <a:buFont typeface="Wingdings" pitchFamily="2" charset="2"/>
        <a:buChar char=""/>
        <a:defRPr sz="24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aujor.com/tutorial/medidascss.php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elhorhospedagemdesites.com/dicas-e-ferramentas/como-criar-um-template-html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3"/>
          <p:cNvSpPr>
            <a:spLocks noChangeArrowheads="1"/>
          </p:cNvSpPr>
          <p:nvPr/>
        </p:nvSpPr>
        <p:spPr bwMode="auto">
          <a:xfrm>
            <a:off x="3152775" y="5732463"/>
            <a:ext cx="3381375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Andreza Barcaro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andrezabarcaro@gmail.com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r>
              <a:rPr lang="en-GB" altLang="pt-BR" sz="1600" b="1">
                <a:latin typeface="Verdana" panose="020B0604030504040204" pitchFamily="34" charset="0"/>
              </a:rPr>
              <a:t>2020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endParaRPr lang="en-GB" altLang="pt-BR" sz="1600" b="1">
              <a:latin typeface="Verdana" panose="020B0604030504040204" pitchFamily="34" charset="0"/>
            </a:endParaRPr>
          </a:p>
        </p:txBody>
      </p:sp>
      <p:sp>
        <p:nvSpPr>
          <p:cNvPr id="17412" name="Espaço Reservado para Número de Slide 4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20357C45-2002-42BF-81CD-2DA72BD2499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sp>
        <p:nvSpPr>
          <p:cNvPr id="2054" name="CaixaDeTexto 5"/>
          <p:cNvSpPr txBox="1">
            <a:spLocks noChangeArrowheads="1"/>
          </p:cNvSpPr>
          <p:nvPr/>
        </p:nvSpPr>
        <p:spPr bwMode="auto">
          <a:xfrm>
            <a:off x="1979613" y="4149725"/>
            <a:ext cx="5616575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lnSpc>
                <a:spcPct val="71000"/>
              </a:lnSpc>
              <a:buClr>
                <a:srgbClr val="000000"/>
              </a:buClr>
              <a:buSzPct val="100000"/>
              <a:buFont typeface="Arial" charset="0"/>
              <a:buNone/>
              <a:defRPr/>
            </a:pPr>
            <a:r>
              <a:rPr lang="pt-BR" sz="3200" b="1" dirty="0">
                <a:solidFill>
                  <a:schemeClr val="tx1"/>
                </a:solidFill>
                <a:latin typeface="+mj-lt"/>
                <a:cs typeface="+mn-cs"/>
              </a:rPr>
              <a:t>Desenvolvimento de Sistemas Web - PHP</a:t>
            </a:r>
          </a:p>
        </p:txBody>
      </p:sp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2708275"/>
            <a:ext cx="1333500" cy="100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ítulo 1"/>
          <p:cNvSpPr>
            <a:spLocks noGrp="1"/>
          </p:cNvSpPr>
          <p:nvPr>
            <p:ph type="title"/>
          </p:nvPr>
        </p:nvSpPr>
        <p:spPr>
          <a:xfrm>
            <a:off x="827088" y="293688"/>
            <a:ext cx="7848600" cy="1144587"/>
          </a:xfrm>
        </p:spPr>
        <p:txBody>
          <a:bodyPr/>
          <a:lstStyle/>
          <a:p>
            <a:r>
              <a:rPr lang="pt-BR" altLang="pt-BR" smtClean="0"/>
              <a:t>Conteúdo Programático da Aula</a:t>
            </a:r>
          </a:p>
        </p:txBody>
      </p:sp>
      <p:sp>
        <p:nvSpPr>
          <p:cNvPr id="19459" name="Espaço Reservado para Conteúdo 2"/>
          <p:cNvSpPr>
            <a:spLocks noGrp="1"/>
          </p:cNvSpPr>
          <p:nvPr>
            <p:ph idx="1"/>
          </p:nvPr>
        </p:nvSpPr>
        <p:spPr>
          <a:xfrm>
            <a:off x="827088" y="1827213"/>
            <a:ext cx="7848600" cy="4351337"/>
          </a:xfrm>
        </p:spPr>
        <p:txBody>
          <a:bodyPr/>
          <a:lstStyle/>
          <a:p>
            <a:r>
              <a:rPr lang="pt-BR" altLang="pt-BR" smtClean="0"/>
              <a:t>Templates:</a:t>
            </a:r>
          </a:p>
          <a:p>
            <a:pPr lvl="1"/>
            <a:r>
              <a:rPr lang="pt-BR" altLang="pt-BR" smtClean="0"/>
              <a:t>O que são; Como funcionam; </a:t>
            </a:r>
          </a:p>
          <a:p>
            <a:pPr lvl="1"/>
            <a:r>
              <a:rPr lang="pt-BR" altLang="pt-BR" smtClean="0"/>
              <a:t>HTML + CSS: Layouts responsivo X adaptativo; </a:t>
            </a:r>
          </a:p>
          <a:p>
            <a:pPr lvl="1"/>
            <a:r>
              <a:rPr lang="pt-BR" altLang="pt-BR" smtClean="0"/>
              <a:t>Exemplificação prática de modelos.   </a:t>
            </a:r>
          </a:p>
          <a:p>
            <a:pPr lvl="1"/>
            <a:endParaRPr lang="pt-BR" altLang="pt-BR" smtClean="0"/>
          </a:p>
          <a:p>
            <a:pPr lvl="1"/>
            <a:endParaRPr lang="pt-BR" altLang="pt-BR" smtClean="0"/>
          </a:p>
        </p:txBody>
      </p:sp>
      <p:sp>
        <p:nvSpPr>
          <p:cNvPr id="1946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174F873-E98A-41E8-90E2-889DA97266A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Templates</a:t>
            </a:r>
          </a:p>
        </p:txBody>
      </p:sp>
      <p:sp>
        <p:nvSpPr>
          <p:cNvPr id="20483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8675688" cy="4351337"/>
          </a:xfrm>
        </p:spPr>
        <p:txBody>
          <a:bodyPr/>
          <a:lstStyle/>
          <a:p>
            <a:pPr algn="just"/>
            <a:r>
              <a:rPr lang="pt-BR" altLang="pt-BR" smtClean="0"/>
              <a:t>Um template HTML é uma estrutura predefinida, que pode ser utilizada como base para sites e outras peças gráficas. 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Para fazer o template de um site simples diretamente no código HTML, você precisará aprender a estrutura base de um documento HTML, além de saber o básico de CSS.</a:t>
            </a:r>
          </a:p>
        </p:txBody>
      </p:sp>
      <p:sp>
        <p:nvSpPr>
          <p:cNvPr id="2048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484ADF92-E009-4C31-AE8D-CBFADCCD6FA9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Unidades de medida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9143999" cy="4351337"/>
          </a:xfrm>
        </p:spPr>
        <p:txBody>
          <a:bodyPr/>
          <a:lstStyle/>
          <a:p>
            <a:pPr algn="just"/>
            <a:r>
              <a:rPr lang="pt-BR" dirty="0"/>
              <a:t>De acordo com</a:t>
            </a:r>
            <a:r>
              <a:rPr lang="pt-BR" b="1" dirty="0"/>
              <a:t> </a:t>
            </a:r>
            <a:r>
              <a:rPr lang="pt-BR" b="1" dirty="0" err="1">
                <a:hlinkClick r:id="rId2"/>
              </a:rPr>
              <a:t>Maujor</a:t>
            </a:r>
            <a:r>
              <a:rPr lang="pt-BR" dirty="0"/>
              <a:t>, as unidades de medida de comprimento CSS referem-se a medidas na horizontal ou na vertical.</a:t>
            </a:r>
            <a:r>
              <a:rPr lang="pt-BR" dirty="0"/>
              <a:t/>
            </a:r>
            <a:br>
              <a:rPr lang="pt-BR" dirty="0"/>
            </a:br>
            <a:r>
              <a:rPr lang="pt-BR" dirty="0"/>
              <a:t/>
            </a:r>
            <a:br>
              <a:rPr lang="pt-BR" dirty="0"/>
            </a:br>
            <a:r>
              <a:rPr lang="pt-BR" dirty="0"/>
              <a:t>O formato para declarar o valor de uma unidade de medida CSS é um número com ou sem ponto decimal imediatamente precedido do sinal '+' (mais) ou do sinal '-' (menos), sendo o sinal '+' (mais) o valor "default" e imediatamente seguido por uma unidade identificadora (medida CSS válida - p.ex., </a:t>
            </a:r>
            <a:r>
              <a:rPr lang="pt-BR" dirty="0" err="1"/>
              <a:t>px</a:t>
            </a:r>
            <a:r>
              <a:rPr lang="pt-BR" dirty="0"/>
              <a:t>, em, </a:t>
            </a:r>
            <a:r>
              <a:rPr lang="pt-BR" dirty="0" err="1"/>
              <a:t>deg</a:t>
            </a:r>
            <a:r>
              <a:rPr lang="pt-BR" dirty="0"/>
              <a:t>, etc...). A unidade identificadora é opcional quando se declara um valor '0' (zero).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4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527818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Unidades de medida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9143999" cy="4351337"/>
          </a:xfrm>
        </p:spPr>
        <p:txBody>
          <a:bodyPr/>
          <a:lstStyle/>
          <a:p>
            <a:pPr algn="just"/>
            <a:r>
              <a:rPr lang="pt-BR" dirty="0"/>
              <a:t>Algumas das propriedades CSS permitem que sejam declarados valores negativos para unidades de medida. </a:t>
            </a:r>
            <a:endParaRPr lang="pt-BR" dirty="0" smtClean="0"/>
          </a:p>
          <a:p>
            <a:pPr algn="just"/>
            <a:endParaRPr lang="pt-BR" b="1" dirty="0"/>
          </a:p>
          <a:p>
            <a:pPr algn="just"/>
            <a:endParaRPr lang="pt-BR" b="1" dirty="0" smtClean="0"/>
          </a:p>
          <a:p>
            <a:pPr algn="just"/>
            <a:endParaRPr lang="pt-BR" b="1" dirty="0"/>
          </a:p>
          <a:p>
            <a:pPr algn="just"/>
            <a:r>
              <a:rPr lang="pt-BR" b="1" dirty="0" smtClean="0"/>
              <a:t>A </a:t>
            </a:r>
            <a:r>
              <a:rPr lang="pt-BR" b="1" dirty="0"/>
              <a:t>adoção de valores negativos podem complicar a formatação do elemento e devem ser usados com cautela. Se valores negativos não forem suportados pela aplicação de usuário, eles serão convertidos para o valor mais próximo suportado (e isso pode tornar-se desastroso para um layout).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5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17038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Unidades de medida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2708920"/>
            <a:ext cx="9143999" cy="3469630"/>
          </a:xfrm>
        </p:spPr>
        <p:txBody>
          <a:bodyPr/>
          <a:lstStyle/>
          <a:p>
            <a:pPr algn="just"/>
            <a:r>
              <a:rPr lang="pt-BR" dirty="0"/>
              <a:t>A aplicação das unidades de medidas sempre precisa ser levada em conta a importância da acessibilidade e do carregamento e ajuste do layout nos diversos dispositivos que acessam um website ou mesmo um aplicativo.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6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1326720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absolutas no 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" y="1827213"/>
            <a:ext cx="8675688" cy="4351337"/>
          </a:xfrm>
        </p:spPr>
        <p:txBody>
          <a:bodyPr/>
          <a:lstStyle/>
          <a:p>
            <a:r>
              <a:rPr lang="pt-BR" b="1" dirty="0" err="1"/>
              <a:t>Píxels</a:t>
            </a:r>
            <a:r>
              <a:rPr lang="pt-BR" b="1" dirty="0"/>
              <a:t> (</a:t>
            </a:r>
            <a:r>
              <a:rPr lang="pt-BR" b="1" dirty="0" err="1"/>
              <a:t>px</a:t>
            </a:r>
            <a:r>
              <a:rPr lang="pt-BR" b="1" dirty="0" smtClean="0"/>
              <a:t>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Provavelmente você já conhece ou ouviu falar desse rapaz chamado </a:t>
            </a:r>
            <a:r>
              <a:rPr lang="pt-BR" dirty="0" err="1"/>
              <a:t>Píxel</a:t>
            </a:r>
            <a:r>
              <a:rPr lang="pt-BR" dirty="0"/>
              <a:t>. </a:t>
            </a:r>
            <a:r>
              <a:rPr lang="pt-BR" dirty="0" err="1"/>
              <a:t>Píxel</a:t>
            </a:r>
            <a:r>
              <a:rPr lang="pt-BR" dirty="0"/>
              <a:t> nada mais é do que os pequenos pontinhos luminosos da tela do seu monitor, celular, televisão, etc. Logo, o </a:t>
            </a:r>
            <a:r>
              <a:rPr lang="pt-BR" dirty="0" err="1"/>
              <a:t>píxel</a:t>
            </a:r>
            <a:r>
              <a:rPr lang="pt-BR" dirty="0"/>
              <a:t> é o menor elemento em um dispositivo de exibição! </a:t>
            </a:r>
            <a:r>
              <a:rPr lang="pt-BR" b="1" dirty="0"/>
              <a:t>Um detalhe que poucos conhecem é que na verdade, o </a:t>
            </a:r>
            <a:r>
              <a:rPr lang="pt-BR" b="1" dirty="0" err="1"/>
              <a:t>píxel</a:t>
            </a:r>
            <a:r>
              <a:rPr lang="pt-BR" b="1" dirty="0"/>
              <a:t> do CSS NÃO é realmente um </a:t>
            </a:r>
            <a:r>
              <a:rPr lang="pt-BR" b="1" dirty="0" err="1"/>
              <a:t>píxel</a:t>
            </a:r>
            <a:r>
              <a:rPr lang="pt-BR" b="1" dirty="0"/>
              <a:t> da tela do dispositivo</a:t>
            </a:r>
            <a:r>
              <a:rPr lang="pt-BR" dirty="0"/>
              <a:t>, e sim o que chamamos de </a:t>
            </a:r>
            <a:r>
              <a:rPr lang="pt-BR" dirty="0" err="1"/>
              <a:t>píxel</a:t>
            </a:r>
            <a:r>
              <a:rPr lang="pt-BR" dirty="0"/>
              <a:t> de referência que geralmente é maior do que o </a:t>
            </a:r>
            <a:r>
              <a:rPr lang="pt-BR" dirty="0" err="1"/>
              <a:t>píxel</a:t>
            </a:r>
            <a:r>
              <a:rPr lang="pt-BR" dirty="0"/>
              <a:t> real. 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7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243375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absolutas no 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9036495" cy="4351337"/>
          </a:xfrm>
        </p:spPr>
        <p:txBody>
          <a:bodyPr/>
          <a:lstStyle/>
          <a:p>
            <a:r>
              <a:rPr lang="pt-BR" b="1" dirty="0"/>
              <a:t>Points (</a:t>
            </a:r>
            <a:r>
              <a:rPr lang="pt-BR" b="1" dirty="0" err="1"/>
              <a:t>pt</a:t>
            </a:r>
            <a:r>
              <a:rPr lang="pt-BR" b="1" dirty="0" smtClean="0"/>
              <a:t>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A próxima unidade é Point. Definitivamente essa unidade é mais conhecida pelos designers, principalmente os que estudam tipografia. Essa medida é geralmente utilizada em propriedades relacionadas a fonte do seu projeto. Sua abreviação se dá com a marcação de </a:t>
            </a:r>
            <a:r>
              <a:rPr lang="pt-BR" dirty="0" err="1"/>
              <a:t>pt</a:t>
            </a:r>
            <a:r>
              <a:rPr lang="pt-BR" dirty="0"/>
              <a:t> e seu uso não é tão comum, você provavelmente verá essa unidade muito raramente porque ela não é recomendada para a estilização em tela!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8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612853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absolutas no 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" y="1827213"/>
            <a:ext cx="8675688" cy="4351337"/>
          </a:xfrm>
        </p:spPr>
        <p:txBody>
          <a:bodyPr/>
          <a:lstStyle/>
          <a:p>
            <a:r>
              <a:rPr lang="pt-BR" b="1" dirty="0"/>
              <a:t>in (inches/polegadas</a:t>
            </a:r>
            <a:r>
              <a:rPr lang="pt-BR" b="1" dirty="0" smtClean="0"/>
              <a:t>)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Polegada ou </a:t>
            </a:r>
            <a:r>
              <a:rPr lang="pt-BR" dirty="0" err="1"/>
              <a:t>inch</a:t>
            </a:r>
            <a:r>
              <a:rPr lang="pt-BR" dirty="0"/>
              <a:t> em inglês é mais uma unidade de medida que conhecemos do mundo das medidas absolutas - geralmente vemos elas quando queremos comprar uma nova TV ou monitor , mas essa unidade também existe no mundo Web.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9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36607712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Medidas absolutas no CSS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" y="1827213"/>
            <a:ext cx="8675688" cy="4351337"/>
          </a:xfrm>
        </p:spPr>
        <p:txBody>
          <a:bodyPr/>
          <a:lstStyle/>
          <a:p>
            <a:r>
              <a:rPr lang="pt-BR" b="1" dirty="0"/>
              <a:t>Centímetro e Milímetro (cm / mm</a:t>
            </a:r>
            <a:r>
              <a:rPr lang="pt-BR" b="1" dirty="0" smtClean="0"/>
              <a:t>)</a:t>
            </a:r>
          </a:p>
          <a:p>
            <a:endParaRPr lang="pt-BR" dirty="0"/>
          </a:p>
          <a:p>
            <a:r>
              <a:rPr lang="pt-BR" dirty="0"/>
              <a:t>Nós brasileiros, que adotamos o sistema métrico, conhecemos bem essas duas medidas, que são bastante utilizadas no dia a dia. Apesar de bastante comuns, tanto centímetro e milímetro são pouco usadas no CSS. Assim como o </a:t>
            </a:r>
            <a:r>
              <a:rPr lang="pt-BR" dirty="0" err="1"/>
              <a:t>pt</a:t>
            </a:r>
            <a:r>
              <a:rPr lang="pt-BR" dirty="0"/>
              <a:t>, o uso dessas duas é esperado para folhas de estilo para impressões (medidas mais precisas), evitando que elas sejam aplicadas para exibições em tela.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10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379673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dirty="0" smtClean="0"/>
              <a:t>Exemplo prático</a:t>
            </a:r>
            <a:endParaRPr lang="pt-BR" altLang="pt-BR" dirty="0" smtClean="0"/>
          </a:p>
        </p:txBody>
      </p:sp>
      <p:sp>
        <p:nvSpPr>
          <p:cNvPr id="21507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17148A76-A787-44F9-8DC1-9B3C1E09A13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538287"/>
            <a:ext cx="6592391" cy="43765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" y="303213"/>
            <a:ext cx="7070725" cy="629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Título 1"/>
          <p:cNvSpPr>
            <a:spLocks noGrp="1"/>
          </p:cNvSpPr>
          <p:nvPr>
            <p:ph type="title"/>
          </p:nvPr>
        </p:nvSpPr>
        <p:spPr>
          <a:xfrm>
            <a:off x="1692275" y="-268288"/>
            <a:ext cx="7305675" cy="1144588"/>
          </a:xfrm>
        </p:spPr>
        <p:txBody>
          <a:bodyPr/>
          <a:lstStyle/>
          <a:p>
            <a:r>
              <a:rPr lang="pt-BR" altLang="pt-BR" smtClean="0"/>
              <a:t>Vamos fazer um exemplo</a:t>
            </a:r>
          </a:p>
        </p:txBody>
      </p:sp>
      <p:sp>
        <p:nvSpPr>
          <p:cNvPr id="2253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E2E0D244-7245-4688-9E00-8138F6F8D7D4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12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sp>
        <p:nvSpPr>
          <p:cNvPr id="22533" name="CaixaDeTexto 5"/>
          <p:cNvSpPr txBox="1">
            <a:spLocks noChangeArrowheads="1"/>
          </p:cNvSpPr>
          <p:nvPr/>
        </p:nvSpPr>
        <p:spPr bwMode="auto">
          <a:xfrm>
            <a:off x="5580063" y="3068638"/>
            <a:ext cx="15128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r>
              <a:rPr lang="pt-BR" altLang="pt-BR">
                <a:solidFill>
                  <a:srgbClr val="FF0000"/>
                </a:solidFill>
              </a:rPr>
              <a:t>No 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No css</a:t>
            </a:r>
          </a:p>
        </p:txBody>
      </p:sp>
      <p:sp>
        <p:nvSpPr>
          <p:cNvPr id="23555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B6056044-2ED3-4500-A14F-583CFC5C8B76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13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23556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720725"/>
            <a:ext cx="3824287" cy="501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No css</a:t>
            </a:r>
          </a:p>
        </p:txBody>
      </p:sp>
      <p:sp>
        <p:nvSpPr>
          <p:cNvPr id="24579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F7CBC5D9-B515-4EEB-BEBD-A7B338CCE6A2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14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24580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93688"/>
            <a:ext cx="3887787" cy="5472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Imagem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63" y="3573463"/>
            <a:ext cx="2536825" cy="194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4582" name="Conector de seta reta 7"/>
          <p:cNvCxnSpPr>
            <a:cxnSpLocks noChangeShapeType="1"/>
          </p:cNvCxnSpPr>
          <p:nvPr/>
        </p:nvCxnSpPr>
        <p:spPr bwMode="auto">
          <a:xfrm flipV="1">
            <a:off x="2916238" y="4365625"/>
            <a:ext cx="2016125" cy="1800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Template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351838" cy="4351337"/>
          </a:xfrm>
        </p:spPr>
        <p:txBody>
          <a:bodyPr/>
          <a:lstStyle/>
          <a:p>
            <a:pPr>
              <a:defRPr/>
            </a:pPr>
            <a:r>
              <a:rPr lang="pt-BR" dirty="0"/>
              <a:t>Aqui está o passo a passo para criar um </a:t>
            </a:r>
            <a:r>
              <a:rPr lang="pt-BR" dirty="0" err="1"/>
              <a:t>template</a:t>
            </a:r>
            <a:r>
              <a:rPr lang="pt-BR" dirty="0"/>
              <a:t> HTML: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pt-BR" dirty="0"/>
              <a:t>Escolha um editor de texto e </a:t>
            </a:r>
            <a:r>
              <a:rPr lang="pt-BR" dirty="0" smtClean="0"/>
              <a:t>códigos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pt-BR" dirty="0" smtClean="0"/>
              <a:t>Crie </a:t>
            </a:r>
            <a:r>
              <a:rPr lang="pt-BR" dirty="0"/>
              <a:t>um documento HTML com a estrutura </a:t>
            </a:r>
            <a:r>
              <a:rPr lang="pt-BR" dirty="0" smtClean="0"/>
              <a:t>básica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pt-BR" dirty="0" smtClean="0"/>
              <a:t>Defina </a:t>
            </a:r>
            <a:r>
              <a:rPr lang="pt-BR" dirty="0"/>
              <a:t>uma estrutura para o corpo da </a:t>
            </a:r>
            <a:r>
              <a:rPr lang="pt-BR" dirty="0" smtClean="0"/>
              <a:t>página;</a:t>
            </a:r>
          </a:p>
          <a:p>
            <a:pPr marL="457200" indent="-457200">
              <a:buFont typeface="+mj-lt"/>
              <a:buAutoNum type="arabicPeriod"/>
              <a:defRPr/>
            </a:pPr>
            <a:r>
              <a:rPr lang="pt-BR" dirty="0" smtClean="0"/>
              <a:t>Estilize </a:t>
            </a:r>
            <a:r>
              <a:rPr lang="pt-BR" dirty="0"/>
              <a:t>o </a:t>
            </a:r>
            <a:r>
              <a:rPr lang="pt-BR" dirty="0" err="1"/>
              <a:t>template</a:t>
            </a:r>
            <a:r>
              <a:rPr lang="pt-BR" dirty="0"/>
              <a:t> HTML usando CSS</a:t>
            </a:r>
          </a:p>
          <a:p>
            <a:pPr>
              <a:defRPr/>
            </a:pPr>
            <a:endParaRPr lang="pt-BR" dirty="0"/>
          </a:p>
        </p:txBody>
      </p:sp>
      <p:sp>
        <p:nvSpPr>
          <p:cNvPr id="2560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1260D5CA-E75E-42C2-B866-AE1EA5D03E9F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Layout</a:t>
            </a:r>
          </a:p>
        </p:txBody>
      </p:sp>
      <p:sp>
        <p:nvSpPr>
          <p:cNvPr id="26627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9144000" cy="4351337"/>
          </a:xfrm>
        </p:spPr>
        <p:txBody>
          <a:bodyPr/>
          <a:lstStyle/>
          <a:p>
            <a:pPr algn="just"/>
            <a:r>
              <a:rPr lang="pt-BR" altLang="pt-BR" sz="2800" b="1" smtClean="0"/>
              <a:t>Layout</a:t>
            </a:r>
            <a:r>
              <a:rPr lang="pt-BR" altLang="pt-BR" sz="2800" smtClean="0"/>
              <a:t> é o design da página web. </a:t>
            </a:r>
          </a:p>
          <a:p>
            <a:pPr algn="just"/>
            <a:endParaRPr lang="pt-BR" altLang="pt-BR" sz="2800" smtClean="0"/>
          </a:p>
          <a:p>
            <a:pPr algn="just"/>
            <a:r>
              <a:rPr lang="pt-BR" altLang="pt-BR" sz="2800" smtClean="0"/>
              <a:t>Ele é composto de todos os elementos que são mostrados quando você acessa um site - o arranjo, as formas, as cores, tipografias, etc.</a:t>
            </a:r>
          </a:p>
        </p:txBody>
      </p:sp>
      <p:sp>
        <p:nvSpPr>
          <p:cNvPr id="2662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7F68355-AC80-41B3-BB1F-556D4068C3F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ítulo 1"/>
          <p:cNvSpPr>
            <a:spLocks noGrp="1"/>
          </p:cNvSpPr>
          <p:nvPr>
            <p:ph type="title"/>
          </p:nvPr>
        </p:nvSpPr>
        <p:spPr>
          <a:xfrm>
            <a:off x="1619250" y="-171450"/>
            <a:ext cx="7305675" cy="1144588"/>
          </a:xfrm>
        </p:spPr>
        <p:txBody>
          <a:bodyPr/>
          <a:lstStyle/>
          <a:p>
            <a:r>
              <a:rPr lang="pt-BR" altLang="pt-BR" smtClean="0"/>
              <a:t>Layout Adaptativo</a:t>
            </a:r>
          </a:p>
        </p:txBody>
      </p:sp>
      <p:sp>
        <p:nvSpPr>
          <p:cNvPr id="27651" name="Espaço Reservado para Conteúdo 2"/>
          <p:cNvSpPr>
            <a:spLocks noGrp="1"/>
          </p:cNvSpPr>
          <p:nvPr>
            <p:ph idx="1"/>
          </p:nvPr>
        </p:nvSpPr>
        <p:spPr>
          <a:xfrm>
            <a:off x="23813" y="1341438"/>
            <a:ext cx="9144000" cy="4351337"/>
          </a:xfrm>
        </p:spPr>
        <p:txBody>
          <a:bodyPr/>
          <a:lstStyle/>
          <a:p>
            <a:pPr algn="just"/>
            <a:r>
              <a:rPr lang="pt-BR" altLang="pt-BR" b="1" smtClean="0"/>
              <a:t>Layout Adaptativo</a:t>
            </a:r>
            <a:r>
              <a:rPr lang="pt-BR" altLang="pt-BR" smtClean="0"/>
              <a:t> é quando um site tem a facilidade de alterar de acordo com cada resolução nova. É similar a ter várias páginas estáticas para dispositivos diferentes, mas com apenas uma página de conteúdo. 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Isto é feito através do CSS (que vamos tratar numa aula futura deste curso) que é uma página com as regras de design independente da página do conteúdo. No adaptivo, é necessário ter várias páginas de CSS para resoluções diferentes.</a:t>
            </a:r>
          </a:p>
          <a:p>
            <a:pPr algn="just"/>
            <a:endParaRPr lang="pt-BR" altLang="pt-BR" smtClean="0"/>
          </a:p>
          <a:p>
            <a:pPr algn="just"/>
            <a:r>
              <a:rPr lang="pt-BR" altLang="pt-BR" smtClean="0"/>
              <a:t>A vantagem deste é que a experiência do usuário pode ser adaptada de acordo com cada dispositivo ou resolução de tela sem ter que mexer no conteúdo.</a:t>
            </a:r>
          </a:p>
        </p:txBody>
      </p:sp>
      <p:sp>
        <p:nvSpPr>
          <p:cNvPr id="2765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0B652F9-05ED-4D92-8BCF-E6880F015201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Layout Responsivo</a:t>
            </a:r>
          </a:p>
        </p:txBody>
      </p:sp>
      <p:sp>
        <p:nvSpPr>
          <p:cNvPr id="28675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5616872" cy="4351337"/>
          </a:xfrm>
        </p:spPr>
        <p:txBody>
          <a:bodyPr/>
          <a:lstStyle/>
          <a:p>
            <a:pPr algn="just"/>
            <a:r>
              <a:rPr lang="pt-BR" dirty="0"/>
              <a:t>Design Responsivo é uma técnica de estruturação HTML e CSS, que consiste em adaptar o site ao browser do usuário sem que seja necessário definir várias folhas de estilos específicas para cada resolução, ou seja, é um tipo de design onde o layout fica fluído e variante de acordo com a resolução do usuário</a:t>
            </a:r>
            <a:r>
              <a:rPr lang="pt-BR" dirty="0" smtClean="0"/>
              <a:t>.</a:t>
            </a:r>
          </a:p>
          <a:p>
            <a:pPr algn="just"/>
            <a:endParaRPr lang="pt-BR" dirty="0"/>
          </a:p>
          <a:p>
            <a:pPr marL="0" indent="0" algn="just">
              <a:buNone/>
            </a:pPr>
            <a:r>
              <a:rPr lang="pt-BR" dirty="0"/>
              <a:t/>
            </a:r>
            <a:br>
              <a:rPr lang="pt-BR" dirty="0"/>
            </a:br>
            <a:r>
              <a:rPr lang="pt-BR" b="1" dirty="0"/>
              <a:t>Esse tipo de design responsivo teve origem em 2010 com o objetivo de melhorar a experiência de navegação dos usuários de páginas web.</a:t>
            </a:r>
            <a:endParaRPr lang="pt-BR" altLang="pt-BR" dirty="0" smtClean="0"/>
          </a:p>
        </p:txBody>
      </p:sp>
      <p:sp>
        <p:nvSpPr>
          <p:cNvPr id="2867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815501DC-4D78-415F-8308-22F9E8526E4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18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865" y="1841523"/>
            <a:ext cx="3014331" cy="22589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293688"/>
            <a:ext cx="9143999" cy="1144587"/>
          </a:xfrm>
        </p:spPr>
        <p:txBody>
          <a:bodyPr/>
          <a:lstStyle/>
          <a:p>
            <a:pPr algn="ctr"/>
            <a:r>
              <a:rPr lang="pt-BR" dirty="0"/>
              <a:t>Por que devemos usar Design Responsivo?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" y="1844824"/>
            <a:ext cx="9143998" cy="4333726"/>
          </a:xfrm>
        </p:spPr>
        <p:txBody>
          <a:bodyPr/>
          <a:lstStyle/>
          <a:p>
            <a:pPr algn="just"/>
            <a:r>
              <a:rPr lang="pt-BR" dirty="0"/>
              <a:t>Pensando nisso, os desenvolvedores precisam ter uma preocupação muito maior de tornar seus websites disponíveis para esse público, é aí então que surge a importância de um website ser bem visto em qualquer dispositivo, independente da sua resolução de tela</a:t>
            </a:r>
            <a:r>
              <a:rPr lang="pt-BR" dirty="0" smtClean="0"/>
              <a:t>.</a:t>
            </a:r>
          </a:p>
          <a:p>
            <a:pPr algn="just"/>
            <a:endParaRPr lang="pt-BR" dirty="0"/>
          </a:p>
          <a:p>
            <a:pPr algn="just"/>
            <a:r>
              <a:rPr lang="pt-BR" dirty="0" smtClean="0"/>
              <a:t>Mais </a:t>
            </a:r>
            <a:r>
              <a:rPr lang="pt-BR" dirty="0"/>
              <a:t>do que uma simples tendência de design, o design responsivo é um conjunto de ferramentas e técnicas modernas que definem como o conteúdo será exibido ao usuário. (</a:t>
            </a:r>
            <a:r>
              <a:rPr lang="pt-BR" i="1" dirty="0"/>
              <a:t>Fonte: DEVMEDIA</a:t>
            </a:r>
            <a:r>
              <a:rPr lang="pt-BR" dirty="0"/>
              <a:t>)</a:t>
            </a: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19</a:t>
            </a:fld>
            <a:endParaRPr lang="en-GB" altLang="pt-BR"/>
          </a:p>
        </p:txBody>
      </p:sp>
    </p:spTree>
    <p:extLst>
      <p:ext uri="{BB962C8B-B14F-4D97-AF65-F5344CB8AC3E}">
        <p14:creationId xmlns:p14="http://schemas.microsoft.com/office/powerpoint/2010/main" val="2270903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Design Responsivo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8394F0E1-D621-4B98-8543-2AD78AA59B56}" type="slidenum">
              <a:rPr lang="en-GB" altLang="pt-BR" smtClean="0"/>
              <a:pPr>
                <a:defRPr/>
              </a:pPr>
              <a:t>20</a:t>
            </a:fld>
            <a:endParaRPr lang="en-GB" altLang="pt-BR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544638"/>
            <a:ext cx="6359698" cy="501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666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Exemplo</a:t>
            </a:r>
          </a:p>
        </p:txBody>
      </p:sp>
      <p:pic>
        <p:nvPicPr>
          <p:cNvPr id="29699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628775"/>
            <a:ext cx="7632700" cy="4325938"/>
          </a:xfrm>
        </p:spPr>
      </p:pic>
      <p:sp>
        <p:nvSpPr>
          <p:cNvPr id="2970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E320947-3808-4DEF-8788-616B65DACE5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HTML CSS</a:t>
            </a:r>
          </a:p>
        </p:txBody>
      </p:sp>
      <p:sp>
        <p:nvSpPr>
          <p:cNvPr id="30723" name="Espaço Reservado para Conteúdo 2"/>
          <p:cNvSpPr>
            <a:spLocks noGrp="1"/>
          </p:cNvSpPr>
          <p:nvPr>
            <p:ph idx="1"/>
          </p:nvPr>
        </p:nvSpPr>
        <p:spPr>
          <a:xfrm>
            <a:off x="323850" y="1827213"/>
            <a:ext cx="8820150" cy="4351337"/>
          </a:xfrm>
        </p:spPr>
        <p:txBody>
          <a:bodyPr/>
          <a:lstStyle/>
          <a:p>
            <a:pPr marL="0" indent="0" algn="ctr">
              <a:buFont typeface="Wingdings" pitchFamily="2" charset="2"/>
              <a:buNone/>
            </a:pPr>
            <a:r>
              <a:rPr lang="pt-BR" altLang="pt-BR" b="1" smtClean="0"/>
              <a:t>LAYOUT RESPONSIVO X ADAPTATIVO</a:t>
            </a:r>
          </a:p>
          <a:p>
            <a:pPr marL="0" indent="0" algn="ctr">
              <a:buFont typeface="Wingdings" pitchFamily="2" charset="2"/>
              <a:buNone/>
            </a:pPr>
            <a:endParaRPr lang="pt-BR" altLang="pt-BR" b="1" smtClean="0"/>
          </a:p>
          <a:p>
            <a:pPr marL="0" indent="0" algn="just">
              <a:buFont typeface="Wingdings" pitchFamily="2" charset="2"/>
              <a:buNone/>
            </a:pPr>
            <a:r>
              <a:rPr lang="pt-BR" altLang="pt-BR" smtClean="0"/>
              <a:t>O objetivo de ambos é o mesmo: facilitar a navegação do usuário em diferentes plataformas de acesso, independente de onde é feito, tanto por PC’s quanto por dispositivo mobile.</a:t>
            </a:r>
          </a:p>
          <a:p>
            <a:pPr marL="0" indent="0" algn="just">
              <a:buFont typeface="Wingdings" pitchFamily="2" charset="2"/>
              <a:buNone/>
            </a:pPr>
            <a:endParaRPr lang="pt-BR" altLang="pt-BR" b="1" smtClean="0"/>
          </a:p>
          <a:p>
            <a:pPr marL="0" indent="0" algn="just">
              <a:buFont typeface="Wingdings" pitchFamily="2" charset="2"/>
              <a:buNone/>
            </a:pPr>
            <a:r>
              <a:rPr lang="pt-BR" altLang="pt-BR" smtClean="0"/>
              <a:t>Basicamente, o design Adaptativo nada mais é que uma variação do design responsivo, a diferença é que o Adaptativo se adapta a telas de tamanhos específicos, enquanto o Responsivo adapta todo o conteúdo.</a:t>
            </a:r>
            <a:endParaRPr lang="pt-BR" altLang="pt-BR" b="1" smtClean="0"/>
          </a:p>
        </p:txBody>
      </p:sp>
      <p:sp>
        <p:nvSpPr>
          <p:cNvPr id="3072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865166CC-7349-4BCF-A0C7-4C98EBEFBE58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Design responsivo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31747" name="Espaço Reservado para Conteúdo 2"/>
          <p:cNvSpPr>
            <a:spLocks noGrp="1"/>
          </p:cNvSpPr>
          <p:nvPr>
            <p:ph idx="1"/>
          </p:nvPr>
        </p:nvSpPr>
        <p:spPr>
          <a:xfrm>
            <a:off x="0" y="1844675"/>
            <a:ext cx="9144000" cy="435133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pt-BR" altLang="pt-BR" smtClean="0"/>
              <a:t>Flexibilidade, essa é a palavra que melhor define o design responsivo. O usuário poderá navegar com um design otimizado, independente do tamanho da tela ou da resolução.</a:t>
            </a:r>
          </a:p>
          <a:p>
            <a:pPr algn="just">
              <a:lnSpc>
                <a:spcPct val="100000"/>
              </a:lnSpc>
            </a:pPr>
            <a:endParaRPr lang="pt-BR" altLang="pt-BR" smtClean="0"/>
          </a:p>
          <a:p>
            <a:pPr algn="just">
              <a:lnSpc>
                <a:spcPct val="100000"/>
              </a:lnSpc>
            </a:pPr>
            <a:r>
              <a:rPr lang="pt-BR" altLang="pt-BR" smtClean="0"/>
              <a:t> O layout se modifica de acordo com o dispositivo que o usuário está fazendo o acesso. Devido a essa base flexível é possível realizar grandes modificações com poucas linhas de código, além e permitir ocultar elementos desnecessários em dispositivos móveis.</a:t>
            </a:r>
          </a:p>
        </p:txBody>
      </p:sp>
      <p:sp>
        <p:nvSpPr>
          <p:cNvPr id="3174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CD80FCA-2F79-4F12-B58A-994EDE171143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Design adaptativo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32771" name="Espaço Reservado para Conteúdo 2"/>
          <p:cNvSpPr>
            <a:spLocks noGrp="1"/>
          </p:cNvSpPr>
          <p:nvPr>
            <p:ph idx="1"/>
          </p:nvPr>
        </p:nvSpPr>
        <p:spPr>
          <a:xfrm>
            <a:off x="0" y="1438275"/>
            <a:ext cx="9144000" cy="435133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pt-BR" altLang="pt-BR" smtClean="0"/>
              <a:t>A intenção do design adaptativo é fazer algumas adaptações, sem abandonar as medidas fixas. </a:t>
            </a:r>
          </a:p>
          <a:p>
            <a:pPr algn="just">
              <a:lnSpc>
                <a:spcPct val="100000"/>
              </a:lnSpc>
            </a:pPr>
            <a:endParaRPr lang="pt-BR" altLang="pt-BR" smtClean="0"/>
          </a:p>
          <a:p>
            <a:pPr algn="just">
              <a:lnSpc>
                <a:spcPct val="100000"/>
              </a:lnSpc>
            </a:pPr>
            <a:r>
              <a:rPr lang="pt-BR" altLang="pt-BR" smtClean="0"/>
              <a:t>Textos e imagens não recebem tratamento diferenciado, é desenvolvido baseado no mesmo layout e código que são desenvolvidos para desktops. </a:t>
            </a:r>
          </a:p>
          <a:p>
            <a:pPr algn="just">
              <a:lnSpc>
                <a:spcPct val="100000"/>
              </a:lnSpc>
            </a:pPr>
            <a:endParaRPr lang="pt-BR" altLang="pt-BR" smtClean="0"/>
          </a:p>
          <a:p>
            <a:pPr algn="just">
              <a:lnSpc>
                <a:spcPct val="100000"/>
              </a:lnSpc>
            </a:pPr>
            <a:r>
              <a:rPr lang="pt-BR" altLang="pt-BR" smtClean="0"/>
              <a:t>A vantagem é que o tempo de produção é menor, pode-se atualizar um layout já existente e o programador tem um maior controle de mudanças no design.</a:t>
            </a:r>
          </a:p>
          <a:p>
            <a:endParaRPr lang="pt-BR" altLang="pt-BR" smtClean="0"/>
          </a:p>
        </p:txBody>
      </p:sp>
      <p:sp>
        <p:nvSpPr>
          <p:cNvPr id="32772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B81A2E3D-5D29-4890-B750-0924850F46C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24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Responsivo vs adaptativo: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33795" name="Espaço Reservado para Conteúdo 2"/>
          <p:cNvSpPr>
            <a:spLocks noGrp="1"/>
          </p:cNvSpPr>
          <p:nvPr>
            <p:ph idx="1"/>
          </p:nvPr>
        </p:nvSpPr>
        <p:spPr>
          <a:xfrm>
            <a:off x="0" y="1827213"/>
            <a:ext cx="8675688" cy="4351337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altLang="pt-BR" smtClean="0"/>
              <a:t>O design responsivo expande de forma fluída, enquanto o adaptativo aguarda o navegador ou viewport terminar a expansão.</a:t>
            </a:r>
          </a:p>
          <a:p>
            <a:pPr algn="just">
              <a:lnSpc>
                <a:spcPct val="150000"/>
              </a:lnSpc>
            </a:pPr>
            <a:endParaRPr lang="pt-BR" altLang="pt-BR" smtClean="0"/>
          </a:p>
          <a:p>
            <a:pPr algn="just">
              <a:lnSpc>
                <a:spcPct val="150000"/>
              </a:lnSpc>
            </a:pPr>
            <a:endParaRPr lang="pt-BR" altLang="pt-BR" smtClean="0"/>
          </a:p>
          <a:p>
            <a:endParaRPr lang="pt-BR" altLang="pt-BR" smtClean="0"/>
          </a:p>
        </p:txBody>
      </p:sp>
      <p:sp>
        <p:nvSpPr>
          <p:cNvPr id="3379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30E47679-0044-4F87-B830-805FD80EDDF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25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ítulo 1"/>
          <p:cNvSpPr>
            <a:spLocks noGrp="1"/>
          </p:cNvSpPr>
          <p:nvPr>
            <p:ph type="title"/>
          </p:nvPr>
        </p:nvSpPr>
        <p:spPr>
          <a:xfrm>
            <a:off x="1692275" y="-74613"/>
            <a:ext cx="7305675" cy="1144588"/>
          </a:xfrm>
        </p:spPr>
        <p:txBody>
          <a:bodyPr/>
          <a:lstStyle/>
          <a:p>
            <a:r>
              <a:rPr lang="pt-BR" altLang="pt-BR" smtClean="0"/>
              <a:t>Adaptativo Exemplo</a:t>
            </a:r>
          </a:p>
        </p:txBody>
      </p:sp>
      <p:pic>
        <p:nvPicPr>
          <p:cNvPr id="34819" name="Espaço Reservado para Conteúdo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293688"/>
            <a:ext cx="3313112" cy="6303962"/>
          </a:xfrm>
        </p:spPr>
      </p:pic>
      <p:sp>
        <p:nvSpPr>
          <p:cNvPr id="34820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60CAEAA2-EBF7-41EE-BF1F-411978ACA615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26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34821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3" y="1708150"/>
            <a:ext cx="6057900" cy="352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2" name="CaixaDeTexto 7"/>
          <p:cNvSpPr txBox="1">
            <a:spLocks noChangeArrowheads="1"/>
          </p:cNvSpPr>
          <p:nvPr/>
        </p:nvSpPr>
        <p:spPr bwMode="auto">
          <a:xfrm>
            <a:off x="2701925" y="549275"/>
            <a:ext cx="660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>
                <a:solidFill>
                  <a:schemeClr val="tx1"/>
                </a:solidFill>
              </a:rPr>
              <a:t>CSS</a:t>
            </a:r>
          </a:p>
        </p:txBody>
      </p:sp>
      <p:sp>
        <p:nvSpPr>
          <p:cNvPr id="34823" name="CaixaDeTexto 9"/>
          <p:cNvSpPr txBox="1">
            <a:spLocks noChangeArrowheads="1"/>
          </p:cNvSpPr>
          <p:nvPr/>
        </p:nvSpPr>
        <p:spPr bwMode="auto">
          <a:xfrm>
            <a:off x="7524750" y="1204913"/>
            <a:ext cx="8255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>
                <a:solidFill>
                  <a:schemeClr val="tx1"/>
                </a:solidFill>
              </a:rPr>
              <a:t>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Adaptativo Exemplo</a:t>
            </a:r>
          </a:p>
        </p:txBody>
      </p:sp>
      <p:sp>
        <p:nvSpPr>
          <p:cNvPr id="35843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725A3790-F322-48F3-A1E8-0ABC8A829B9B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27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35844" name="Espaço Reservado para Conteú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2420938"/>
            <a:ext cx="8596313" cy="1008062"/>
          </a:xfrm>
        </p:spPr>
      </p:pic>
      <p:sp>
        <p:nvSpPr>
          <p:cNvPr id="35845" name="CaixaDeTexto 9"/>
          <p:cNvSpPr txBox="1">
            <a:spLocks noChangeArrowheads="1"/>
          </p:cNvSpPr>
          <p:nvPr/>
        </p:nvSpPr>
        <p:spPr bwMode="auto">
          <a:xfrm>
            <a:off x="3348038" y="1893888"/>
            <a:ext cx="26971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>
                <a:solidFill>
                  <a:schemeClr val="tx1"/>
                </a:solidFill>
              </a:rPr>
              <a:t>100%</a:t>
            </a:r>
          </a:p>
        </p:txBody>
      </p:sp>
      <p:sp>
        <p:nvSpPr>
          <p:cNvPr id="35846" name="CaixaDeTexto 10"/>
          <p:cNvSpPr txBox="1">
            <a:spLocks noChangeArrowheads="1"/>
          </p:cNvSpPr>
          <p:nvPr/>
        </p:nvSpPr>
        <p:spPr bwMode="auto">
          <a:xfrm>
            <a:off x="3362325" y="3519488"/>
            <a:ext cx="26971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>
                <a:solidFill>
                  <a:schemeClr val="tx1"/>
                </a:solidFill>
              </a:rPr>
              <a:t>Tablet em px</a:t>
            </a:r>
          </a:p>
        </p:txBody>
      </p:sp>
      <p:pic>
        <p:nvPicPr>
          <p:cNvPr id="35847" name="Imagem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738" y="4389438"/>
            <a:ext cx="4552950" cy="1466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Imagem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74625"/>
            <a:ext cx="8856663" cy="642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7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Responsivo Exemplo</a:t>
            </a:r>
            <a:br>
              <a:rPr lang="pt-BR" altLang="pt-BR" smtClean="0"/>
            </a:br>
            <a:endParaRPr lang="pt-BR" altLang="pt-BR" smtClean="0"/>
          </a:p>
        </p:txBody>
      </p:sp>
      <p:sp>
        <p:nvSpPr>
          <p:cNvPr id="3686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D6A9A177-9766-4B0F-9F2C-A54538C6FF3C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28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sp>
        <p:nvSpPr>
          <p:cNvPr id="36869" name="CaixaDeTexto 9"/>
          <p:cNvSpPr txBox="1">
            <a:spLocks noChangeArrowheads="1"/>
          </p:cNvSpPr>
          <p:nvPr/>
        </p:nvSpPr>
        <p:spPr bwMode="auto">
          <a:xfrm>
            <a:off x="4787900" y="4365625"/>
            <a:ext cx="2698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1800" b="1">
                <a:solidFill>
                  <a:schemeClr val="tx1"/>
                </a:solidFill>
              </a:rPr>
              <a:t>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No css </a:t>
            </a:r>
          </a:p>
        </p:txBody>
      </p:sp>
      <p:sp>
        <p:nvSpPr>
          <p:cNvPr id="38915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20BD75BC-AB1B-4ACC-BE0A-F65A55134A79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29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38916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88913"/>
            <a:ext cx="4176712" cy="642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Continuação do css acima</a:t>
            </a:r>
          </a:p>
        </p:txBody>
      </p:sp>
      <p:sp>
        <p:nvSpPr>
          <p:cNvPr id="39939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bg1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fld id="{AA0DF83D-FD4A-4F1F-B2B1-9D54203D5511}" type="slidenum">
              <a:rPr lang="en-GB" altLang="pt-BR" smtClean="0">
                <a:solidFill>
                  <a:srgbClr val="000000"/>
                </a:solidFill>
                <a:latin typeface="Verdana" panose="020B0604030504040204" pitchFamily="34" charset="0"/>
              </a:rPr>
              <a:pPr/>
              <a:t>30</a:t>
            </a:fld>
            <a:endParaRPr lang="en-GB" altLang="pt-BR" smtClean="0">
              <a:solidFill>
                <a:srgbClr val="000000"/>
              </a:solidFill>
              <a:latin typeface="Verdana" panose="020B0604030504040204" pitchFamily="34" charset="0"/>
            </a:endParaRPr>
          </a:p>
        </p:txBody>
      </p:sp>
      <p:pic>
        <p:nvPicPr>
          <p:cNvPr id="39940" name="Imagem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628775"/>
            <a:ext cx="4968875" cy="485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Espaço Reservado para Conteú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1033463"/>
            <a:ext cx="8208962" cy="5419725"/>
          </a:xfrm>
        </p:spPr>
      </p:pic>
      <p:sp>
        <p:nvSpPr>
          <p:cNvPr id="40963" name="Título 1"/>
          <p:cNvSpPr>
            <a:spLocks noGrp="1"/>
          </p:cNvSpPr>
          <p:nvPr>
            <p:ph type="title"/>
          </p:nvPr>
        </p:nvSpPr>
        <p:spPr>
          <a:xfrm>
            <a:off x="1619250" y="-242888"/>
            <a:ext cx="7305675" cy="1144588"/>
          </a:xfrm>
        </p:spPr>
        <p:txBody>
          <a:bodyPr/>
          <a:lstStyle/>
          <a:p>
            <a:r>
              <a:rPr lang="pt-BR" altLang="pt-BR" smtClean="0"/>
              <a:t>Resultado</a:t>
            </a:r>
          </a:p>
        </p:txBody>
      </p:sp>
      <p:sp>
        <p:nvSpPr>
          <p:cNvPr id="40964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F76A5905-326F-41BF-AB1E-E2FC172E6E5A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31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Dúvidas</a:t>
            </a:r>
          </a:p>
        </p:txBody>
      </p:sp>
      <p:sp>
        <p:nvSpPr>
          <p:cNvPr id="41987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altLang="pt-BR" smtClean="0"/>
          </a:p>
        </p:txBody>
      </p:sp>
      <p:sp>
        <p:nvSpPr>
          <p:cNvPr id="41988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9D93D8EF-1688-4B68-BB0B-F3CA848C6707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32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  <p:pic>
        <p:nvPicPr>
          <p:cNvPr id="5" name="Picture 7" descr="http://3.bp.blogspot.com/_cplM-_5BRwc/ShcmAIs5bFI/AAAAAAAAAAw/JGDw5jHEoUs/s320/interroga%C3%A7%C3%A3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588115">
            <a:off x="3496239" y="2205962"/>
            <a:ext cx="2647950" cy="2695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mtClean="0"/>
              <a:t>Referência Bibliográfica</a:t>
            </a:r>
          </a:p>
        </p:txBody>
      </p:sp>
      <p:sp>
        <p:nvSpPr>
          <p:cNvPr id="44035" name="Espaço Reservado para Conteúdo 2"/>
          <p:cNvSpPr>
            <a:spLocks noGrp="1"/>
          </p:cNvSpPr>
          <p:nvPr>
            <p:ph idx="1"/>
          </p:nvPr>
        </p:nvSpPr>
        <p:spPr>
          <a:xfrm>
            <a:off x="395288" y="1827213"/>
            <a:ext cx="8280400" cy="4351337"/>
          </a:xfrm>
        </p:spPr>
        <p:txBody>
          <a:bodyPr/>
          <a:lstStyle/>
          <a:p>
            <a:pPr algn="just"/>
            <a:r>
              <a:rPr lang="pt-BR" altLang="pt-BR" b="1" smtClean="0"/>
              <a:t>Como criar um template HTML: veja o passo a passo. </a:t>
            </a:r>
            <a:r>
              <a:rPr lang="pt-BR" altLang="pt-BR" smtClean="0"/>
              <a:t>Disponível </a:t>
            </a:r>
            <a:r>
              <a:rPr lang="pt-BR" altLang="pt-BR" smtClean="0">
                <a:hlinkClick r:id="rId2"/>
              </a:rPr>
              <a:t>https://www.melhorhospedagemdesites.com/dicas-e-ferramentas/como-criar-um-template-html/</a:t>
            </a:r>
            <a:endParaRPr lang="pt-BR" altLang="pt-BR" smtClean="0"/>
          </a:p>
          <a:p>
            <a:endParaRPr lang="pt-BR" altLang="pt-BR" smtClean="0"/>
          </a:p>
          <a:p>
            <a:endParaRPr lang="pt-BR" altLang="pt-BR" smtClean="0"/>
          </a:p>
        </p:txBody>
      </p:sp>
      <p:sp>
        <p:nvSpPr>
          <p:cNvPr id="44036" name="Espaço Reservado para Número de Slide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1pPr>
            <a:lvl2pPr marL="742950" indent="-28575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2pPr>
            <a:lvl3pPr marL="11430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3pPr>
            <a:lvl4pPr marL="16002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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4pPr>
            <a:lvl5pPr marL="2057400" indent="-228600">
              <a:lnSpc>
                <a:spcPct val="71000"/>
              </a:lnSpc>
              <a:spcBef>
                <a:spcPts val="6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5pPr>
            <a:lvl6pPr marL="25146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6pPr>
            <a:lvl7pPr marL="29718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7pPr>
            <a:lvl8pPr marL="34290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8pPr>
            <a:lvl9pPr marL="3886200" indent="-228600" defTabSz="449263" eaLnBrk="0" fontAlgn="base" hangingPunct="0">
              <a:lnSpc>
                <a:spcPct val="71000"/>
              </a:lnSpc>
              <a:spcBef>
                <a:spcPts val="600"/>
              </a:spcBef>
              <a:spcAft>
                <a:spcPct val="0"/>
              </a:spcAft>
              <a:buClr>
                <a:srgbClr val="000099"/>
              </a:buClr>
              <a:buSzPct val="80000"/>
              <a:buFont typeface="Wingdings" panose="05000000000000000000" pitchFamily="2" charset="2"/>
              <a:buChar char="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>
                <a:srgbClr val="000000"/>
              </a:buClr>
              <a:buSzPct val="100000"/>
              <a:buFont typeface="Verdana" panose="020B0604030504040204" pitchFamily="34" charset="0"/>
              <a:buNone/>
            </a:pPr>
            <a:fld id="{C6F277FE-8988-4430-B354-AD76A66977A9}" type="slidenum">
              <a:rPr lang="en-GB" altLang="pt-BR" sz="1200" smtClean="0">
                <a:latin typeface="Verdana" panose="020B0604030504040204" pitchFamily="34" charset="0"/>
              </a:rPr>
              <a:pPr>
                <a:lnSpc>
                  <a:spcPct val="100000"/>
                </a:lnSpc>
                <a:spcBef>
                  <a:spcPct val="0"/>
                </a:spcBef>
                <a:buClr>
                  <a:srgbClr val="000000"/>
                </a:buClr>
                <a:buSzPct val="100000"/>
                <a:buFont typeface="Verdana" panose="020B0604030504040204" pitchFamily="34" charset="0"/>
                <a:buNone/>
              </a:pPr>
              <a:t>33</a:t>
            </a:fld>
            <a:endParaRPr lang="en-GB" altLang="pt-BR" sz="1200" smtClean="0">
              <a:latin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strutura padrão">
  <a:themeElements>
    <a:clrScheme name="Escala de Cinza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Estrutura padrão">
      <a:majorFont>
        <a:latin typeface="Verdana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1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Arial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4485</TotalTime>
  <Words>1036</Words>
  <Application>Microsoft Office PowerPoint</Application>
  <PresentationFormat>Apresentação na tela (4:3)</PresentationFormat>
  <Paragraphs>139</Paragraphs>
  <Slides>33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Arial Unicode MS</vt:lpstr>
      <vt:lpstr>Arial</vt:lpstr>
      <vt:lpstr>Times New Roman</vt:lpstr>
      <vt:lpstr>Verdana</vt:lpstr>
      <vt:lpstr>Wingdings</vt:lpstr>
      <vt:lpstr>Estrutura padrão</vt:lpstr>
      <vt:lpstr>Apresentação do PowerPoint</vt:lpstr>
      <vt:lpstr>Conteúdo Programático da Aula</vt:lpstr>
      <vt:lpstr>Templates</vt:lpstr>
      <vt:lpstr>Unidades de medida</vt:lpstr>
      <vt:lpstr>Unidades de medida</vt:lpstr>
      <vt:lpstr>Unidades de medida</vt:lpstr>
      <vt:lpstr>Medidas absolutas no CSS</vt:lpstr>
      <vt:lpstr>Medidas absolutas no CSS</vt:lpstr>
      <vt:lpstr>Medidas absolutas no CSS</vt:lpstr>
      <vt:lpstr>Medidas absolutas no CSS</vt:lpstr>
      <vt:lpstr>Exemplo prático</vt:lpstr>
      <vt:lpstr>Vamos fazer um exemplo</vt:lpstr>
      <vt:lpstr>No css</vt:lpstr>
      <vt:lpstr>No css</vt:lpstr>
      <vt:lpstr>Template</vt:lpstr>
      <vt:lpstr>Layout</vt:lpstr>
      <vt:lpstr>Layout Adaptativo</vt:lpstr>
      <vt:lpstr>Layout Responsivo</vt:lpstr>
      <vt:lpstr>Por que devemos usar Design Responsivo?</vt:lpstr>
      <vt:lpstr>Design Responsivo</vt:lpstr>
      <vt:lpstr>Exemplo</vt:lpstr>
      <vt:lpstr>HTML CSS</vt:lpstr>
      <vt:lpstr>Design responsivo </vt:lpstr>
      <vt:lpstr>Design adaptativo </vt:lpstr>
      <vt:lpstr>Responsivo vs adaptativo: </vt:lpstr>
      <vt:lpstr>Adaptativo Exemplo</vt:lpstr>
      <vt:lpstr>Adaptativo Exemplo</vt:lpstr>
      <vt:lpstr>Responsivo Exemplo </vt:lpstr>
      <vt:lpstr>No css </vt:lpstr>
      <vt:lpstr>Continuação do css acima</vt:lpstr>
      <vt:lpstr>Resultado</vt:lpstr>
      <vt:lpstr>Dúvidas</vt:lpstr>
      <vt:lpstr>Referência Bibliográfica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</dc:title>
  <dc:subject>Informática</dc:subject>
  <dc:creator>Alexandra Eliamara Marques</dc:creator>
  <cp:lastModifiedBy>Andressa</cp:lastModifiedBy>
  <cp:revision>768</cp:revision>
  <cp:lastPrinted>2019-12-11T14:36:06Z</cp:lastPrinted>
  <dcterms:modified xsi:type="dcterms:W3CDTF">2020-08-25T12:38:29Z</dcterms:modified>
  <cp:category>Informática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or">
    <vt:lpwstr>Andreza</vt:lpwstr>
  </property>
</Properties>
</file>